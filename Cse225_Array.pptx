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2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59F0-B8AB-44A3-AD8D-2535E61F4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25F14-271F-4BC7-AADE-1E04ADBBE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E6F4-4B01-427B-AC8D-8067EA04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0ED68-AC15-4E6B-8E5B-07C271E4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8B2BF-2E29-4DAC-88AF-FDF4B925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9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D5A2-B77E-4440-96F6-1C9FF6E3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198F4-29B8-4935-8323-437B960C5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5A23F-E70F-4AB9-97F1-79C781B53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5F68D-13B0-4CE2-80BE-E81158D2A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DBF45-7A01-43FC-9C37-F52FAA8C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3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CA6D-FE90-4FAA-830F-7DE3C9CF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C8853-622B-4E43-BEF9-7C97FD245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14B6-0187-4C31-916D-FD873012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07C76-3337-43E3-8D06-EAC3E7D9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92DBB-8176-4518-8231-ED6B5619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0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E106-FC09-445D-92EE-2DDC95EDA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B48DE-A88F-4F14-BEE6-CC455327D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5F590-8668-48CB-9066-BD6FA35E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5FB75-51C8-4C7D-80E3-FF4E4BD7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CF576-EEBE-4342-8F22-D145CFCE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57F91-E4C2-4692-87ED-EB0B0FDE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79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8D6D-7F55-406E-B7D3-8F78A337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9987F-A19B-41B9-BC1C-5C0E92039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3185A-F5C6-4CA5-8777-0CC14791D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2D885-627F-45B0-A1A4-5167EC116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A19BA-F26C-4CE1-AFD1-BD5ECA8FD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469A54-A71A-45A9-BA00-AE69C232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203EC-21F3-40ED-8C81-C65A75ED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792C8-54B8-4486-8F6F-31DED9D3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2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A1B3-1536-49B1-B145-7DDCC1E4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EC38A-359B-4D3B-ACA4-61097747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58567-8A9E-4B91-B18F-3447DC2D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1E472-32E1-46B6-870B-B413F3E5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3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5F238-0C28-4F6A-B670-8655F9C4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9FCE3C-8DE4-4429-A478-FEF241376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D9F42-D6E7-4265-A659-7600C3059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1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984F1-F6CC-45E4-B819-F701B991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8C338-AC39-4430-845D-48EF4270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C9CD5-EF17-48A0-933B-67F75CBC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79AFD-3E6A-40D2-BFC6-C6B84C6B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124BF-44D1-46C9-B35A-301549FE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6330E-2C49-4DB0-BA01-255B0123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5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A56F-9940-4E3A-8B0A-AA4759DA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5C0BE-6DDF-42FF-9999-9A850C043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200EE-3BFC-4979-85DD-201515AFE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0698E-E9E4-4399-874E-516B1FAB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FACD6-A532-4087-98B4-9791C19A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610A2-44D9-423A-9F9D-76AEE892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1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4F21-7615-4023-953C-DF49CD9D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9F020-D8BB-45B2-9E74-C19A87BEA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31BA8-3C0C-47EE-88B7-07944FF1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ACD7B-2A1F-48EA-BE58-EA9EF790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3C029-9B60-4F58-8C2E-6D4EF930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3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67DDBB-FFC3-4DF5-B82E-ADC449A5F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FD320-6C68-4A39-A397-65514C362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525B5-9E7B-4A51-B553-74FAF5E00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DEB61-645A-4F53-A5EA-CA13BD86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97889-11CA-4C8E-BE12-FF4ACFCF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EA0BE-E2F9-45EA-9A87-BE1572D9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00F13-66C4-4E80-8628-F1AB69F6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6BA25-DD16-46EF-BACE-C7030EA8C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20229-3BED-49A1-9550-641C963935A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DC289-E2E2-4B4E-92F5-FF3E599A1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2EA0D-238B-4DD6-AF07-F761B8D37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AE376-49DE-48A7-A02D-F01A8E1EB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0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/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Queue-Array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057660"/>
              </p:ext>
            </p:extLst>
          </p:nvPr>
        </p:nvGraphicFramePr>
        <p:xfrm>
          <a:off x="89645" y="475130"/>
          <a:ext cx="12003740" cy="632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:</a:t>
                      </a:r>
                      <a:br>
                        <a:rPr lang="en-US" sz="1200" dirty="0"/>
                      </a:b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LengthIs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(ItemType);</a:t>
                      </a:r>
                      <a:br>
                        <a:rPr lang="en-US" sz="12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RetrieveItem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(ItemType&amp;, bool&amp;);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ResetList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GetNextItem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(ItemType&amp;);</a:t>
                      </a:r>
                    </a:p>
                    <a:p>
                      <a:endParaRPr lang="en-US" sz="1200" dirty="0"/>
                    </a:p>
                    <a:p>
                      <a:endParaRPr lang="en-US" sz="1200" dirty="0"/>
                    </a:p>
                    <a:p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private: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length;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info[MAX_ITEMS];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 int MAX_ITEMS = 5;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template &lt;class ItemType&gt;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:</a:t>
                      </a:r>
                      <a:br>
                        <a:rPr lang="en-US" sz="1200" dirty="0"/>
                      </a:b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LengthIs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(ItemType);</a:t>
                      </a:r>
                      <a:br>
                        <a:rPr lang="en-US" sz="12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RetrieveItem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(ItemType&amp;, bool&amp;);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ResetList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GetNextItem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private: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length;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info[MAX_ITEMS];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 int MAX_ITEMS = 5;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FullStack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{}; 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EmptyStack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{}; 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template &lt;class ItemType&gt;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public:</a:t>
                      </a:r>
                      <a:br>
                        <a:rPr lang="en-US" sz="1200" dirty="0"/>
                      </a:b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Push(ItemType);</a:t>
                      </a:r>
                      <a:br>
                        <a:rPr lang="en-US" sz="12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Pop();</a:t>
                      </a:r>
                      <a:br>
                        <a:rPr lang="en-US" sz="12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Top();</a:t>
                      </a:r>
                    </a:p>
                    <a:p>
                      <a:br>
                        <a:rPr lang="en-US" sz="1200" dirty="0"/>
                      </a:br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private: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top;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items[MAX_ITEMS];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typedef char ItemType;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FullQueue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EmptyQueue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public: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(int max);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Enqueue(ItemType </a:t>
                      </a:r>
                      <a:r>
                        <a:rPr lang="en-US" sz="12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b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Dequeue(ItemType&amp; item);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private: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front;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rear;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ItemType* items;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62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168465"/>
              </p:ext>
            </p:extLst>
          </p:nvPr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Queue-Array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858729"/>
              </p:ext>
            </p:extLst>
          </p:nvPr>
        </p:nvGraphicFramePr>
        <p:xfrm>
          <a:off x="89645" y="475130"/>
          <a:ext cx="12003740" cy="633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r>
                        <a:rPr lang="en-US" sz="1400" b="0" i="0" u="none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u="non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u="none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u="non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= 0;</a:t>
                      </a:r>
                      <a:br>
                        <a:rPr lang="en-US" sz="1400" dirty="0"/>
                      </a:b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-1;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= 0;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(length == MAX_ITEMS);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InsertItem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 item)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 </a:t>
                      </a:r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info[length] = item;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length++;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= 0;</a:t>
                      </a:r>
                      <a:br>
                        <a:rPr lang="en-US" sz="1100" dirty="0"/>
                      </a:b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-1;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1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= 0;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1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1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(length == MAX_ITEMS);</a:t>
                      </a: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100" dirty="0"/>
                    </a:p>
                    <a:p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1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InsertItem</a:t>
                      </a:r>
                      <a:r>
                        <a:rPr lang="en-US" sz="11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(ItemType item)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int location = 0;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bool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&lt; length);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if(item &gt; info[location])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{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location++;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&lt; length);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}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else if(item &lt; info[location])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</a:t>
                      </a:r>
                      <a:r>
                        <a:rPr lang="en-US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false;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}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(int index = length; index &gt; location; index--)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info[index] = info[index - 1];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info[location] = item;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length++;</a:t>
                      </a:r>
                      <a:b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 = -1;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 = -1;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(top == MAX_ITEMS-1);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&lt;ItemType&gt;::Push</a:t>
                      </a:r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400" dirty="0"/>
                      </a:br>
                      <a:endParaRPr lang="en-US" sz="1400" dirty="0"/>
                    </a:p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FullStack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top++;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items[top]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501;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= new ItemType[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MakeEmpty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((rear+1)%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== front);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::Enqueue(ItemType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IsFull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FullQueue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 = (rear +1) %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items[rear]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newItem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62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C3D9F8-81E5-4B1A-9EB3-CC9108853FD3}"/>
              </a:ext>
            </a:extLst>
          </p:cNvPr>
          <p:cNvGraphicFramePr>
            <a:graphicFrameLocks noGrp="1"/>
          </p:cNvGraphicFramePr>
          <p:nvPr/>
        </p:nvGraphicFramePr>
        <p:xfrm>
          <a:off x="89646" y="62754"/>
          <a:ext cx="120037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16982460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296077660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1259034793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9987995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Unsorted-Array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Sorted-Array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Stack-Array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Queue-Array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232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0F3C664-1672-4529-A16E-3E7E3C3D8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840274"/>
              </p:ext>
            </p:extLst>
          </p:nvPr>
        </p:nvGraphicFramePr>
        <p:xfrm>
          <a:off x="89645" y="475130"/>
          <a:ext cx="12003740" cy="6320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0935">
                  <a:extLst>
                    <a:ext uri="{9D8B030D-6E8A-4147-A177-3AD203B41FA5}">
                      <a16:colId xmlns:a16="http://schemas.microsoft.com/office/drawing/2014/main" val="2853026874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3465621051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86397439"/>
                    </a:ext>
                  </a:extLst>
                </a:gridCol>
                <a:gridCol w="3000935">
                  <a:extLst>
                    <a:ext uri="{9D8B030D-6E8A-4147-A177-3AD203B41FA5}">
                      <a16:colId xmlns:a16="http://schemas.microsoft.com/office/drawing/2014/main" val="944093638"/>
                    </a:ext>
                  </a:extLst>
                </a:gridCol>
              </a:tblGrid>
              <a:tr h="6320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DeleteItem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 item)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location = 0;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(item != info[location])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location++;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info[location] = info[length - 1];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length--;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GetNextItem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(ItemType&amp; item)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++;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 = info [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DeleteItem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 item)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location = 0;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(item != info[location])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location++;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for(int index = location + 1; index &lt; length; index++)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info[index - 1] = info[index];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length--;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GetNextItem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(ItemType&amp; item)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++;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 = info [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br>
                        <a:rPr lang="en-US" sz="1400" dirty="0"/>
                      </a:b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&lt;ItemType&gt;::Pop()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   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EmptyStack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top--;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(top == -1);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ItemType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&lt;ItemType&gt;::Top()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throw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EmptyStack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items[top];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::Dequeue(ItemType&amp; item)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throw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EmptyQueue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front = (front + 1) %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item = items[front];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400" dirty="0"/>
                      </a:b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::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(rear == front);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::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(int max)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max + 1;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 =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- 1;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 = new ItemType[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maxQue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::~</a:t>
                      </a:r>
                      <a:r>
                        <a:rPr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QueType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[] items;</a:t>
                      </a:r>
                      <a:br>
                        <a:rPr lang="en-US" sz="1400" dirty="0"/>
                      </a:b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0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747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2134626-44C3-4283-B5D0-5DA82633A95E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795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847">
                  <a:extLst>
                    <a:ext uri="{9D8B030D-6E8A-4147-A177-3AD203B41FA5}">
                      <a16:colId xmlns:a16="http://schemas.microsoft.com/office/drawing/2014/main" val="2923762778"/>
                    </a:ext>
                  </a:extLst>
                </a:gridCol>
                <a:gridCol w="6311153">
                  <a:extLst>
                    <a:ext uri="{9D8B030D-6E8A-4147-A177-3AD203B41FA5}">
                      <a16:colId xmlns:a16="http://schemas.microsoft.com/office/drawing/2014/main" val="3640735804"/>
                    </a:ext>
                  </a:extLst>
                </a:gridCol>
              </a:tblGrid>
              <a:tr h="339762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Unsorted-Array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Sorted-array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60758"/>
                  </a:ext>
                </a:extLst>
              </a:tr>
              <a:tr h="3397624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11549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B11D256-D78C-46FC-9E89-315F0745BEC2}"/>
              </a:ext>
            </a:extLst>
          </p:cNvPr>
          <p:cNvGraphicFramePr>
            <a:graphicFrameLocks noGrp="1"/>
          </p:cNvGraphicFramePr>
          <p:nvPr/>
        </p:nvGraphicFramePr>
        <p:xfrm>
          <a:off x="138953" y="380552"/>
          <a:ext cx="5907741" cy="2953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7741">
                  <a:extLst>
                    <a:ext uri="{9D8B030D-6E8A-4147-A177-3AD203B41FA5}">
                      <a16:colId xmlns:a16="http://schemas.microsoft.com/office/drawing/2014/main" val="2771969036"/>
                    </a:ext>
                  </a:extLst>
                </a:gridCol>
              </a:tblGrid>
              <a:tr h="2953422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809249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C7F07AA-3C1A-4D7E-857D-E196218F6B91}"/>
              </a:ext>
            </a:extLst>
          </p:cNvPr>
          <p:cNvGraphicFramePr>
            <a:graphicFrameLocks noGrp="1"/>
          </p:cNvGraphicFramePr>
          <p:nvPr/>
        </p:nvGraphicFramePr>
        <p:xfrm>
          <a:off x="6230471" y="385482"/>
          <a:ext cx="5880847" cy="3092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847">
                  <a:extLst>
                    <a:ext uri="{9D8B030D-6E8A-4147-A177-3AD203B41FA5}">
                      <a16:colId xmlns:a16="http://schemas.microsoft.com/office/drawing/2014/main" val="651642378"/>
                    </a:ext>
                  </a:extLst>
                </a:gridCol>
              </a:tblGrid>
              <a:tr h="309282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92686"/>
                  </a:ext>
                </a:extLst>
              </a:tr>
            </a:tbl>
          </a:graphicData>
        </a:graphic>
      </p:graphicFrame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0B14ADC-3D10-49C6-B71D-8877203D6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413107"/>
              </p:ext>
            </p:extLst>
          </p:nvPr>
        </p:nvGraphicFramePr>
        <p:xfrm>
          <a:off x="152400" y="380551"/>
          <a:ext cx="5836021" cy="6414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3343">
                  <a:extLst>
                    <a:ext uri="{9D8B030D-6E8A-4147-A177-3AD203B41FA5}">
                      <a16:colId xmlns:a16="http://schemas.microsoft.com/office/drawing/2014/main" val="887248114"/>
                    </a:ext>
                  </a:extLst>
                </a:gridCol>
                <a:gridCol w="1212678">
                  <a:extLst>
                    <a:ext uri="{9D8B030D-6E8A-4147-A177-3AD203B41FA5}">
                      <a16:colId xmlns:a16="http://schemas.microsoft.com/office/drawing/2014/main" val="482948692"/>
                    </a:ext>
                  </a:extLst>
                </a:gridCol>
              </a:tblGrid>
              <a:tr h="6414695">
                <a:tc>
                  <a:txBody>
                    <a:bodyPr/>
                    <a:lstStyle/>
                    <a:p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RetrieveItem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(ItemType&amp; item, bool &amp;found)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location = 0;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&lt; length);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found = false;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&amp;&amp; !found)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if(item == info[location])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found = true;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 = info[location];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location++;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(location &lt; length);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         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LengthIs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length;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br>
                        <a:rPr lang="en-US" sz="1200" dirty="0"/>
                      </a:br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UnsortedType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ResetList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-1;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78214"/>
                  </a:ext>
                </a:extLst>
              </a:tr>
            </a:tbl>
          </a:graphicData>
        </a:graphic>
      </p:graphicFrame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7AB2A139-43A1-4D2C-B411-23C51317F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668368"/>
              </p:ext>
            </p:extLst>
          </p:nvPr>
        </p:nvGraphicFramePr>
        <p:xfrm>
          <a:off x="6158753" y="448234"/>
          <a:ext cx="5952564" cy="62304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2141">
                  <a:extLst>
                    <a:ext uri="{9D8B030D-6E8A-4147-A177-3AD203B41FA5}">
                      <a16:colId xmlns:a16="http://schemas.microsoft.com/office/drawing/2014/main" val="2404892312"/>
                    </a:ext>
                  </a:extLst>
                </a:gridCol>
                <a:gridCol w="2940423">
                  <a:extLst>
                    <a:ext uri="{9D8B030D-6E8A-4147-A177-3AD203B41FA5}">
                      <a16:colId xmlns:a16="http://schemas.microsoft.com/office/drawing/2014/main" val="2384110109"/>
                    </a:ext>
                  </a:extLst>
                </a:gridCol>
              </a:tblGrid>
              <a:tr h="6230471">
                <a:tc>
                  <a:txBody>
                    <a:bodyPr/>
                    <a:lstStyle/>
                    <a:p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RetrieveItem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(ItemType&amp; item, bool&amp; found)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midPoint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first = 0, last = length - 1;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(first &lt;= last);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found = false;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&amp;&amp; !found)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midPoint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(first + last) / 2;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if(item &lt; info[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midPoint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last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midPoint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- 1;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(first &lt;= last);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LengthIs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length;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SortedType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&lt;ItemType&gt;::</a:t>
                      </a:r>
                      <a:r>
                        <a:rPr lang="en-US" sz="12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ResetList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1200" dirty="0"/>
                      </a:b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currentPos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-1;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else if(item &gt; info[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midPoint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])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first =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midPoint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+ 1;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moreToSearch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(first &lt;= last);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else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{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found = true;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item = info[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midPoint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];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}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814843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AB8B82B-DE60-4F5C-8ABA-7551A5F01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994959"/>
              </p:ext>
            </p:extLst>
          </p:nvPr>
        </p:nvGraphicFramePr>
        <p:xfrm>
          <a:off x="5616682" y="6338047"/>
          <a:ext cx="41656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1358096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90919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028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428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1508</Words>
  <Application>Microsoft Office PowerPoint</Application>
  <PresentationFormat>Widescreen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 apon</dc:creator>
  <cp:lastModifiedBy>ar apon</cp:lastModifiedBy>
  <cp:revision>13</cp:revision>
  <dcterms:created xsi:type="dcterms:W3CDTF">2025-10-24T13:35:10Z</dcterms:created>
  <dcterms:modified xsi:type="dcterms:W3CDTF">2025-10-24T17:01:06Z</dcterms:modified>
</cp:coreProperties>
</file>