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71" r:id="rId3"/>
    <p:sldId id="276" r:id="rId4"/>
    <p:sldId id="272" r:id="rId5"/>
    <p:sldId id="274" r:id="rId6"/>
    <p:sldId id="27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62C44-5BD4-4BDF-A5A6-4A33DEAF6C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80855F-1F90-4C6D-8303-16A07AE05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D5E1C-E064-43E5-9AC2-7FC22E123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2A89A-C776-4B25-BD60-9C5431C0367E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7145D-0697-439E-817C-9468DEF02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6A5A9-0381-42E1-B7F7-EB8E6E8E1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2F664-6335-41CA-B6FF-D4E9DEE05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931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09170-E6E4-4FE9-A5E0-CE4C7B942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5DA91-09E5-4A02-8F01-C11EAEAE0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5122A-1944-4567-B294-49613A68B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2A89A-C776-4B25-BD60-9C5431C0367E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FC95D-5569-4547-A58E-80EF98D09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1249D-C034-43A8-BDDD-260EA52CC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2F664-6335-41CA-B6FF-D4E9DEE05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532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06F37-F5CC-4CF3-B6DD-319286BB9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D62B7-F319-4F6A-A6DF-A0291C723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82B27-367E-4876-BCDC-7F2262A4B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2A89A-C776-4B25-BD60-9C5431C0367E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449EE-5CBE-43C8-9B01-B09939BA4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CF80D-8DAF-41C6-B741-22FF0D220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2F664-6335-41CA-B6FF-D4E9DEE05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049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B7A9F-B558-42A5-9D60-D6E4CDEE8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6FF8F-467C-473E-936A-ED5CA1CF10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802A0E-885F-4480-8061-160BA0A369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0BA2C7-A3D0-4C22-A86C-A05C2F4E7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2A89A-C776-4B25-BD60-9C5431C0367E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E25742-C3B1-456F-A3AC-007508F53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DEBAB8-4977-45AB-8BF0-8D3739A28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2F664-6335-41CA-B6FF-D4E9DEE05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610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FB8A1-CD9A-4CEF-9325-25484DCF0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9C9626-77F7-4501-A9C9-A2DD7B5DE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59267E-4AE8-488B-A928-E6B34B7B5F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CA919D-C7E8-4609-9EBC-D175A8FAC5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CE5CA6-9B12-45B8-8AD1-A961EEE3CD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1D62D0-3067-47DD-AC26-BF9042145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2A89A-C776-4B25-BD60-9C5431C0367E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AD3732-B8C0-463C-B7C8-B77FB8D6C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280CDC-1544-4720-BB73-E295015A7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2F664-6335-41CA-B6FF-D4E9DEE05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985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4018D-48A9-4364-8B94-12039FF6E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C965BE-A04C-46D6-8755-403EC1E41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2A89A-C776-4B25-BD60-9C5431C0367E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BB3E33-EFA1-4839-A29B-582445FF1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9C3224-F53D-47BD-961F-32A77424C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2F664-6335-41CA-B6FF-D4E9DEE05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155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4E8268-C8DE-46B9-9C56-6BD08D7BE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2A89A-C776-4B25-BD60-9C5431C0367E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00CEE8-A2EB-4887-A93C-FC58A04CC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A5E01-0807-4B32-8D83-DFC4EAA0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2F664-6335-41CA-B6FF-D4E9DEE05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838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C16B5-6E6C-4B24-91AF-BF9458CEF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D5B3B-1168-43F6-88BC-240F5ABB9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BFBC20-B360-4D2A-9EEE-DDA98CDCA9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254850-D992-4DD0-8014-D04D063CC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2A89A-C776-4B25-BD60-9C5431C0367E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C8DBC1-4FBF-46A5-A10D-6ABF24AC5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35DE02-AF1F-41B9-88C8-CD53B3BAF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2F664-6335-41CA-B6FF-D4E9DEE05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643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36E1B-F231-4126-AB79-1933BA29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FDF1E6-B0F8-43B2-A0D6-E1110BF389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28A9B9-2230-42DC-85D6-023472D938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E58133-6589-46BE-A21A-486D22895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2A89A-C776-4B25-BD60-9C5431C0367E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50A678-A145-4D88-A1FB-3C337F2C6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79A99E-1DFC-44A8-A4BD-85AE86551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2F664-6335-41CA-B6FF-D4E9DEE05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507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C5311-D4B0-411F-9009-BF743939F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DB93A8-3EFE-4ED4-B356-BAF069F726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BFA88-FBB2-4B23-8106-7807648EC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2A89A-C776-4B25-BD60-9C5431C0367E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14184-7590-4410-AE3E-3F9874EDE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F4C08-4806-4468-9DB8-2B9DCFA62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2F664-6335-41CA-B6FF-D4E9DEE05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82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244B7E-3830-407B-889A-912F9CBC5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E9AFC3-868F-46DE-AF88-72FF9B774F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49494-E1EF-47BC-9829-DDC9B5E44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2A89A-C776-4B25-BD60-9C5431C0367E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49131-CEC6-4A39-B2C5-FB573F9A4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25B24-CB92-4C79-9FB4-2CA60F1EC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2F664-6335-41CA-B6FF-D4E9DEE05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894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1AEE74-5F80-41DA-9ED9-135266E98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E2E568-0E0E-4F3A-9EA8-F443219D43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63489-33DE-4546-B38C-66E277BB4F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2A89A-C776-4B25-BD60-9C5431C0367E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F5BAE-45C9-4FAF-8690-3B8DF80D18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0E5C9-8105-4E98-A0CC-644AF7198A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72F664-6335-41CA-B6FF-D4E9DEE05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24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EDC3D9F8-81E5-4B1A-9EB3-CC9108853FD3}"/>
              </a:ext>
            </a:extLst>
          </p:cNvPr>
          <p:cNvGraphicFramePr>
            <a:graphicFrameLocks noGrp="1"/>
          </p:cNvGraphicFramePr>
          <p:nvPr/>
        </p:nvGraphicFramePr>
        <p:xfrm>
          <a:off x="89646" y="62754"/>
          <a:ext cx="12003740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00935">
                  <a:extLst>
                    <a:ext uri="{9D8B030D-6E8A-4147-A177-3AD203B41FA5}">
                      <a16:colId xmlns:a16="http://schemas.microsoft.com/office/drawing/2014/main" val="2169824604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2960776603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1259034793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3998799532"/>
                    </a:ext>
                  </a:extLst>
                </a:gridCol>
              </a:tblGrid>
              <a:tr h="412376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 Black" panose="020B0A04020102020204" pitchFamily="34" charset="0"/>
                        </a:rPr>
                        <a:t>Unsorted-LinkedList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Black" panose="020B0A04020102020204" pitchFamily="34" charset="0"/>
                        </a:rPr>
                        <a:t>Sorted-LinkedList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 Black" panose="020B0A04020102020204" pitchFamily="34" charset="0"/>
                        </a:rPr>
                        <a:t>Stack-LinkedList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 Black" panose="020B0A04020102020204" pitchFamily="34" charset="0"/>
                        </a:rPr>
                        <a:t>Queue-LinkedList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2492325"/>
                  </a:ext>
                </a:extLst>
              </a:tr>
            </a:tbl>
          </a:graphicData>
        </a:graphic>
      </p:graphicFrame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C0F3C664-1672-4529-A16E-3E7E3C3D83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989151"/>
              </p:ext>
            </p:extLst>
          </p:nvPr>
        </p:nvGraphicFramePr>
        <p:xfrm>
          <a:off x="89645" y="475130"/>
          <a:ext cx="12003740" cy="63201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00935">
                  <a:extLst>
                    <a:ext uri="{9D8B030D-6E8A-4147-A177-3AD203B41FA5}">
                      <a16:colId xmlns:a16="http://schemas.microsoft.com/office/drawing/2014/main" val="2853026874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3465621051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986397439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944093638"/>
                    </a:ext>
                  </a:extLst>
                </a:gridCol>
              </a:tblGrid>
              <a:tr h="63201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 </a:t>
                      </a:r>
                      <a:r>
                        <a:rPr lang="en-US" sz="13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UnsortedType</a:t>
                      </a:r>
                      <a:br>
                        <a:rPr lang="en-US" sz="1300" dirty="0"/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300" dirty="0"/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struct </a:t>
                      </a:r>
                      <a:r>
                        <a:rPr lang="en-US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br>
                        <a:rPr lang="en-US" sz="1300" dirty="0"/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300" dirty="0"/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ItemType info;</a:t>
                      </a:r>
                      <a:br>
                        <a:rPr lang="en-US" sz="1300" dirty="0"/>
                      </a:br>
                      <a:r>
                        <a:rPr lang="en-US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next;</a:t>
                      </a:r>
                      <a:br>
                        <a:rPr lang="en-US" sz="1300" dirty="0"/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sz="1300" dirty="0"/>
                      </a:br>
                      <a:r>
                        <a:rPr lang="en-US" sz="13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public:</a:t>
                      </a:r>
                      <a:br>
                        <a:rPr lang="en-US" sz="1300" dirty="0"/>
                      </a:br>
                      <a:r>
                        <a:rPr lang="en-US" sz="13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UnsortedType</a:t>
                      </a:r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300" dirty="0"/>
                      </a:br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en-US" sz="13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UnsortedType</a:t>
                      </a:r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300" dirty="0"/>
                      </a:br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</a:t>
                      </a:r>
                      <a:r>
                        <a:rPr lang="en-US" sz="13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IsFull</a:t>
                      </a:r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300" dirty="0"/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</a:t>
                      </a:r>
                      <a:r>
                        <a:rPr lang="en-US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LengthIs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300" dirty="0"/>
                      </a:br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3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MakeEmpty</a:t>
                      </a:r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300" dirty="0"/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RetrieveItem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(ItemType&amp; item, bool&amp; found);</a:t>
                      </a:r>
                      <a:endParaRPr lang="en-US" sz="1300" dirty="0"/>
                    </a:p>
                    <a:p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3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InsertItem</a:t>
                      </a:r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(ItemType item);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3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DeleteItem</a:t>
                      </a:r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(ItemType item);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ResetList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3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GetNextItem</a:t>
                      </a:r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(ItemType&amp; item);</a:t>
                      </a:r>
                    </a:p>
                    <a:p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private: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en-US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listData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length;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en-US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currentPos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};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 </a:t>
                      </a:r>
                      <a:r>
                        <a:rPr lang="en-US" sz="13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SortedType</a:t>
                      </a:r>
                      <a:br>
                        <a:rPr lang="en-US" sz="1300" dirty="0"/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300" dirty="0"/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struct </a:t>
                      </a:r>
                      <a:r>
                        <a:rPr lang="en-US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br>
                        <a:rPr lang="en-US" sz="1300" dirty="0"/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300" dirty="0"/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ItemType info;</a:t>
                      </a:r>
                      <a:br>
                        <a:rPr lang="en-US" sz="1300" dirty="0"/>
                      </a:br>
                      <a:r>
                        <a:rPr lang="en-US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next;</a:t>
                      </a:r>
                      <a:br>
                        <a:rPr lang="en-US" sz="1300" dirty="0"/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sz="1300" dirty="0"/>
                      </a:br>
                      <a:r>
                        <a:rPr lang="en-US" sz="13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public:</a:t>
                      </a:r>
                      <a:br>
                        <a:rPr lang="en-US" sz="1300" dirty="0"/>
                      </a:br>
                      <a:r>
                        <a:rPr lang="en-US" sz="13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SortedType</a:t>
                      </a:r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300" dirty="0"/>
                      </a:br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en-US" sz="13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SortedType</a:t>
                      </a:r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300" dirty="0"/>
                      </a:br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</a:t>
                      </a:r>
                      <a:r>
                        <a:rPr lang="en-US" sz="13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IsFull</a:t>
                      </a:r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300" dirty="0"/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</a:t>
                      </a:r>
                      <a:r>
                        <a:rPr lang="en-US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LengthIs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300" dirty="0"/>
                      </a:br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3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MakeEmpty</a:t>
                      </a:r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300" dirty="0"/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RetrieveItem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(ItemType&amp; item, bool&amp; found);</a:t>
                      </a:r>
                      <a:endParaRPr lang="en-US" sz="13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3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InsertItem</a:t>
                      </a:r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(ItemType item);</a:t>
                      </a:r>
                      <a:br>
                        <a:rPr lang="en-US" sz="1300" dirty="0"/>
                      </a:br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3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DeleteItem</a:t>
                      </a:r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(ItemType item);</a:t>
                      </a:r>
                      <a:br>
                        <a:rPr lang="en-US" sz="1300" dirty="0"/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ResetList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300" dirty="0"/>
                      </a:br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3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GetNextItem</a:t>
                      </a:r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(ItemType&amp; item);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sz="1300" dirty="0"/>
                      </a:br>
                      <a:r>
                        <a:rPr lang="en-US" sz="13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private:</a:t>
                      </a:r>
                      <a:br>
                        <a:rPr lang="en-US" sz="1300" dirty="0"/>
                      </a:br>
                      <a:r>
                        <a:rPr lang="en-US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en-US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listData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300" dirty="0"/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length;</a:t>
                      </a:r>
                      <a:br>
                        <a:rPr lang="en-US" sz="1300" dirty="0"/>
                      </a:br>
                      <a:r>
                        <a:rPr lang="en-US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en-US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currentPos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300" dirty="0"/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};</a:t>
                      </a:r>
                      <a:endParaRPr lang="en-US" sz="1300" dirty="0"/>
                    </a:p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 </a:t>
                      </a:r>
                      <a:r>
                        <a:rPr lang="en-US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FullStack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// Exception class used by Push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stack is full.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{};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 </a:t>
                      </a:r>
                      <a:r>
                        <a:rPr lang="en-US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EmptyStack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// Exception class used by Pop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 Top when stack is empty.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{};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 </a:t>
                      </a:r>
                      <a:r>
                        <a:rPr lang="en-US" sz="13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StackType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struct </a:t>
                      </a:r>
                      <a:r>
                        <a:rPr lang="en-US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ItemType info;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next;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};</a:t>
                      </a:r>
                    </a:p>
                    <a:p>
                      <a:endParaRPr lang="en-US" sz="13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public: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StackType</a:t>
                      </a:r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en-US" sz="13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StackType</a:t>
                      </a:r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Push(ItemType);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Pop();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ItemType Top();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</a:t>
                      </a:r>
                      <a:r>
                        <a:rPr lang="en-US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IsEmpty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</a:t>
                      </a:r>
                      <a:r>
                        <a:rPr lang="en-US" sz="13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IsFull</a:t>
                      </a:r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private: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en-US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topPtr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};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US" sz="1300" dirty="0"/>
                    </a:p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 </a:t>
                      </a:r>
                      <a:r>
                        <a:rPr lang="en-US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FullQueue</a:t>
                      </a:r>
                      <a:br>
                        <a:rPr lang="en-US" sz="1300" dirty="0"/>
                      </a:br>
                      <a:br>
                        <a:rPr lang="en-US" sz="1300" dirty="0"/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{};</a:t>
                      </a:r>
                      <a:br>
                        <a:rPr lang="en-US" sz="1300" dirty="0"/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 </a:t>
                      </a:r>
                      <a:r>
                        <a:rPr lang="en-US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EmptyQueue</a:t>
                      </a:r>
                      <a:br>
                        <a:rPr lang="en-US" sz="1300" dirty="0"/>
                      </a:br>
                      <a:br>
                        <a:rPr lang="en-US" sz="1300" dirty="0"/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{}</a:t>
                      </a:r>
                    </a:p>
                    <a:p>
                      <a:endParaRPr lang="en-US" sz="13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3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 </a:t>
                      </a:r>
                      <a:r>
                        <a:rPr lang="en-US" sz="13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QueType</a:t>
                      </a:r>
                      <a:br>
                        <a:rPr lang="en-US" sz="1300" dirty="0"/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300" dirty="0"/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struct </a:t>
                      </a:r>
                      <a:r>
                        <a:rPr lang="en-US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br>
                        <a:rPr lang="en-US" sz="1300" dirty="0"/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300" dirty="0"/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ItemType info;</a:t>
                      </a:r>
                      <a:br>
                        <a:rPr lang="en-US" sz="1300" dirty="0"/>
                      </a:br>
                      <a:r>
                        <a:rPr lang="en-US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next;</a:t>
                      </a:r>
                      <a:br>
                        <a:rPr lang="en-US" sz="1300" dirty="0"/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};</a:t>
                      </a:r>
                    </a:p>
                    <a:p>
                      <a:endParaRPr lang="en-US" sz="13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public:</a:t>
                      </a:r>
                      <a:br>
                        <a:rPr lang="en-US" sz="1300" dirty="0"/>
                      </a:br>
                      <a:r>
                        <a:rPr lang="en-US" sz="13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QueType</a:t>
                      </a:r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300" dirty="0"/>
                      </a:br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en-US" sz="13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QueType</a:t>
                      </a:r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300" dirty="0"/>
                      </a:br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3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MakeEmpty</a:t>
                      </a:r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300" dirty="0"/>
                      </a:br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Enqueue(ItemType);</a:t>
                      </a:r>
                      <a:br>
                        <a:rPr lang="en-US" sz="1300" dirty="0"/>
                      </a:br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Dequeue(ItemType&amp;);</a:t>
                      </a:r>
                      <a:br>
                        <a:rPr lang="en-US" sz="1300" dirty="0"/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</a:t>
                      </a:r>
                      <a:r>
                        <a:rPr lang="en-US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IsEmpty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300" dirty="0"/>
                      </a:br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</a:t>
                      </a:r>
                      <a:r>
                        <a:rPr lang="en-US" sz="13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IsFull</a:t>
                      </a:r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sz="1300" dirty="0"/>
                      </a:br>
                      <a:r>
                        <a:rPr lang="en-US" sz="13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private:</a:t>
                      </a:r>
                      <a:br>
                        <a:rPr lang="en-US" sz="1300" dirty="0"/>
                      </a:br>
                      <a:r>
                        <a:rPr lang="en-US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front;</a:t>
                      </a:r>
                      <a:br>
                        <a:rPr lang="en-US" sz="1300" dirty="0"/>
                      </a:br>
                      <a:r>
                        <a:rPr lang="en-US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rear;</a:t>
                      </a:r>
                      <a:br>
                        <a:rPr lang="en-US" sz="1300" dirty="0"/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};</a:t>
                      </a:r>
                      <a:endParaRPr lang="en-US" sz="1300" dirty="0"/>
                    </a:p>
                    <a:p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501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6570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EDC3D9F8-81E5-4B1A-9EB3-CC9108853F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3079610"/>
              </p:ext>
            </p:extLst>
          </p:nvPr>
        </p:nvGraphicFramePr>
        <p:xfrm>
          <a:off x="89646" y="62754"/>
          <a:ext cx="12003740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00935">
                  <a:extLst>
                    <a:ext uri="{9D8B030D-6E8A-4147-A177-3AD203B41FA5}">
                      <a16:colId xmlns:a16="http://schemas.microsoft.com/office/drawing/2014/main" val="2169824604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2960776603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1259034793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3998799532"/>
                    </a:ext>
                  </a:extLst>
                </a:gridCol>
              </a:tblGrid>
              <a:tr h="412376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 Black" panose="020B0A04020102020204" pitchFamily="34" charset="0"/>
                        </a:rPr>
                        <a:t>Unsorted-LinkedList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Black" panose="020B0A04020102020204" pitchFamily="34" charset="0"/>
                        </a:rPr>
                        <a:t>Sorted-LinkedList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 Black" panose="020B0A04020102020204" pitchFamily="34" charset="0"/>
                        </a:rPr>
                        <a:t>Stack-LinkedList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 Black" panose="020B0A04020102020204" pitchFamily="34" charset="0"/>
                        </a:rPr>
                        <a:t>Queue-LinkedList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2492325"/>
                  </a:ext>
                </a:extLst>
              </a:tr>
            </a:tbl>
          </a:graphicData>
        </a:graphic>
      </p:graphicFrame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C0F3C664-1672-4529-A16E-3E7E3C3D83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410554"/>
              </p:ext>
            </p:extLst>
          </p:nvPr>
        </p:nvGraphicFramePr>
        <p:xfrm>
          <a:off x="89645" y="475130"/>
          <a:ext cx="12003740" cy="63201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00935">
                  <a:extLst>
                    <a:ext uri="{9D8B030D-6E8A-4147-A177-3AD203B41FA5}">
                      <a16:colId xmlns:a16="http://schemas.microsoft.com/office/drawing/2014/main" val="2853026874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3465621051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986397439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944093638"/>
                    </a:ext>
                  </a:extLst>
                </a:gridCol>
              </a:tblGrid>
              <a:tr h="63201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UnsortedType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</a:t>
                      </a: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UnsortedType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     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length = 0;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    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listData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NULL;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    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currentPos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NULL;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en-US" sz="1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</a:t>
                      </a: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UnsortedType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</a:t>
                      </a: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IsFull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   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location;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    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try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        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              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location = new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              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delete location;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              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 false;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         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      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catch(std::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bad_alloc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&amp; exception)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         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               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 true;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         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en-US" sz="1400" dirty="0"/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SortedType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</a:t>
                      </a: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SortedType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     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length = 0;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    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listData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NULL;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    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currentPos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NULL;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en-US" sz="1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</a:t>
                      </a: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SortedType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</a:t>
                      </a: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IsFull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location;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try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{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location = new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delete location;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return false;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}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catch(std::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bad_alloc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&amp; exception)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{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return true;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}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StackType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</a:t>
                      </a: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StackType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 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topPtr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NULL;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en-US" sz="1400" dirty="0"/>
                    </a:p>
                    <a:p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</a:t>
                      </a: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StackType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</a:t>
                      </a: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IsFull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location;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try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{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location = new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delete location;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return false;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}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catch(std::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bad_alloc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&amp; exception)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{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return true;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}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br>
                        <a:rPr lang="en-US" sz="1400" dirty="0"/>
                      </a:br>
                      <a:endParaRPr lang="en-US" sz="1400" dirty="0"/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QueType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</a:t>
                      </a: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QueType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     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front = NULL;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     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rear = NULL;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en-US" sz="1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</a:t>
                      </a: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QueType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</a:t>
                      </a: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IsFull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location;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try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{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location = new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delete location;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return false; 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}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catch(std::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bad_alloc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&amp; exception)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{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return true;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}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501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8622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EDC3D9F8-81E5-4B1A-9EB3-CC9108853FD3}"/>
              </a:ext>
            </a:extLst>
          </p:cNvPr>
          <p:cNvGraphicFramePr>
            <a:graphicFrameLocks noGrp="1"/>
          </p:cNvGraphicFramePr>
          <p:nvPr/>
        </p:nvGraphicFramePr>
        <p:xfrm>
          <a:off x="89646" y="62754"/>
          <a:ext cx="12003740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00935">
                  <a:extLst>
                    <a:ext uri="{9D8B030D-6E8A-4147-A177-3AD203B41FA5}">
                      <a16:colId xmlns:a16="http://schemas.microsoft.com/office/drawing/2014/main" val="2169824604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2960776603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1259034793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3998799532"/>
                    </a:ext>
                  </a:extLst>
                </a:gridCol>
              </a:tblGrid>
              <a:tr h="412376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 Black" panose="020B0A04020102020204" pitchFamily="34" charset="0"/>
                        </a:rPr>
                        <a:t>Unsorted-LinkedList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Black" panose="020B0A04020102020204" pitchFamily="34" charset="0"/>
                        </a:rPr>
                        <a:t>Sorted-LinkedList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 Black" panose="020B0A04020102020204" pitchFamily="34" charset="0"/>
                        </a:rPr>
                        <a:t>Stack-LinkedList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 Black" panose="020B0A04020102020204" pitchFamily="34" charset="0"/>
                        </a:rPr>
                        <a:t>Queue-LinkedList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2492325"/>
                  </a:ext>
                </a:extLst>
              </a:tr>
            </a:tbl>
          </a:graphicData>
        </a:graphic>
      </p:graphicFrame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C0F3C664-1672-4529-A16E-3E7E3C3D83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771051"/>
              </p:ext>
            </p:extLst>
          </p:nvPr>
        </p:nvGraphicFramePr>
        <p:xfrm>
          <a:off x="89645" y="475130"/>
          <a:ext cx="12003740" cy="63201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00935">
                  <a:extLst>
                    <a:ext uri="{9D8B030D-6E8A-4147-A177-3AD203B41FA5}">
                      <a16:colId xmlns:a16="http://schemas.microsoft.com/office/drawing/2014/main" val="2853026874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3465621051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986397439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944093638"/>
                    </a:ext>
                  </a:extLst>
                </a:gridCol>
              </a:tblGrid>
              <a:tr h="63201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1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UnsortedType</a:t>
                      </a:r>
                      <a:r>
                        <a:rPr lang="en-US" sz="11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</a:t>
                      </a:r>
                      <a:r>
                        <a:rPr lang="en-US" sz="11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InsertItem</a:t>
                      </a:r>
                      <a:r>
                        <a:rPr lang="en-US" sz="11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(ItemType item)</a:t>
                      </a:r>
                      <a:b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location;</a:t>
                      </a:r>
                      <a:b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location = new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location-&gt;info = item;</a:t>
                      </a:r>
                      <a:b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location-&gt;next =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listData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listData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location;</a:t>
                      </a:r>
                      <a:b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length++;</a:t>
                      </a:r>
                      <a:b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1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SortedType</a:t>
                      </a:r>
                      <a:r>
                        <a:rPr lang="en-US" sz="11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</a:t>
                      </a:r>
                      <a:r>
                        <a:rPr lang="en-US" sz="11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InsertItem</a:t>
                      </a:r>
                      <a:endParaRPr lang="en-US" sz="1100" b="0" i="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1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(ItemType item)</a:t>
                      </a:r>
                      <a:br>
                        <a:rPr lang="en-US" sz="1100" dirty="0"/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       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newNode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       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predLoc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       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location;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        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moreToSearch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br>
                        <a:rPr lang="en-US" sz="1100" dirty="0"/>
                      </a:br>
                      <a:r>
                        <a:rPr lang="en-US" sz="1100" dirty="0"/>
                        <a:t>        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location =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listData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       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predLoc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NULL;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       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moreToSearch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(location != NULL);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        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while (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moreToSearch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              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                  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(location-&gt;info &lt; item)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                       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                        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predLoc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location;</a:t>
                      </a:r>
                    </a:p>
                    <a:p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location = location-&gt;next;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                       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moreToSearch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(location != NULL);</a:t>
                      </a:r>
                    </a:p>
                    <a:p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}</a:t>
                      </a:r>
                    </a:p>
                    <a:p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else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moreToSearch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false;</a:t>
                      </a:r>
                    </a:p>
                    <a:p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}</a:t>
                      </a:r>
                    </a:p>
                    <a:p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newNode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new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        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newNode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-&gt;info = item;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         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(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predLoc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== NULL)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           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               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newNode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-&gt;next =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listData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               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listData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newNode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           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          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else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           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               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newNode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-&gt;next = location;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               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predLoc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-&gt;next =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newNode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            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            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length++;</a:t>
                      </a:r>
                      <a:br>
                        <a:rPr lang="en-US" sz="1100" dirty="0"/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br>
                        <a:rPr lang="en-US" sz="1100" dirty="0"/>
                      </a:b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1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StackType</a:t>
                      </a:r>
                      <a:r>
                        <a:rPr lang="en-US" sz="11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&lt;ItemType&gt;::Push</a:t>
                      </a:r>
                    </a:p>
                    <a:p>
                      <a:r>
                        <a:rPr lang="en-US" sz="11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(ItemType </a:t>
                      </a:r>
                      <a:r>
                        <a:rPr lang="en-US" sz="11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newItem</a:t>
                      </a:r>
                      <a:r>
                        <a:rPr lang="en-US" sz="11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sz="1100" dirty="0"/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          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(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IsFull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())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                 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throw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FullStack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          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else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               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                     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location;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                      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location = new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                      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location-&gt;info =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newItem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                      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location-&gt;next =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topPtr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                     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topPtr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location;</a:t>
                      </a:r>
                    </a:p>
                    <a:p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}</a:t>
                      </a:r>
                      <a:br>
                        <a:rPr lang="en-US" sz="1100" dirty="0"/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br>
                        <a:rPr lang="en-US" sz="1100" dirty="0"/>
                      </a:br>
                      <a:endParaRPr lang="en-US" sz="1100" dirty="0"/>
                    </a:p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1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QueType</a:t>
                      </a:r>
                      <a:r>
                        <a:rPr lang="en-US" sz="11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&lt;ItemType&gt;::Enqueue       (ItemType </a:t>
                      </a:r>
                      <a:r>
                        <a:rPr lang="en-US" sz="11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newItem</a:t>
                      </a:r>
                      <a:r>
                        <a:rPr lang="en-US" sz="11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if (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IsFull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())</a:t>
                      </a:r>
                      <a:b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throw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FullQueue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else</a:t>
                      </a:r>
                      <a:b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{</a:t>
                      </a:r>
                      <a:b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newNode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newNode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new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newNode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-&gt;info =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newItem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newNode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-&gt;next = NULL;</a:t>
                      </a:r>
                      <a:b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if (rear == NULL)</a:t>
                      </a:r>
                      <a:b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  front =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newNode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else</a:t>
                      </a:r>
                      <a:b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 rear-&gt;next =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newNode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rear =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newNode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}</a:t>
                      </a:r>
                      <a:b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501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3534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EDC3D9F8-81E5-4B1A-9EB3-CC9108853FD3}"/>
              </a:ext>
            </a:extLst>
          </p:cNvPr>
          <p:cNvGraphicFramePr>
            <a:graphicFrameLocks noGrp="1"/>
          </p:cNvGraphicFramePr>
          <p:nvPr/>
        </p:nvGraphicFramePr>
        <p:xfrm>
          <a:off x="89646" y="62754"/>
          <a:ext cx="12003740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00935">
                  <a:extLst>
                    <a:ext uri="{9D8B030D-6E8A-4147-A177-3AD203B41FA5}">
                      <a16:colId xmlns:a16="http://schemas.microsoft.com/office/drawing/2014/main" val="2169824604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2960776603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1259034793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3998799532"/>
                    </a:ext>
                  </a:extLst>
                </a:gridCol>
              </a:tblGrid>
              <a:tr h="412376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 Black" panose="020B0A04020102020204" pitchFamily="34" charset="0"/>
                        </a:rPr>
                        <a:t>Unsorted-LinkedList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Black" panose="020B0A04020102020204" pitchFamily="34" charset="0"/>
                        </a:rPr>
                        <a:t>Sorted-LinkedList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 Black" panose="020B0A04020102020204" pitchFamily="34" charset="0"/>
                        </a:rPr>
                        <a:t>Stack-LinkedList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 Black" panose="020B0A04020102020204" pitchFamily="34" charset="0"/>
                        </a:rPr>
                        <a:t>Queue-LinkedList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2492325"/>
                  </a:ext>
                </a:extLst>
              </a:tr>
            </a:tbl>
          </a:graphicData>
        </a:graphic>
      </p:graphicFrame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C0F3C664-1672-4529-A16E-3E7E3C3D83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15293"/>
              </p:ext>
            </p:extLst>
          </p:nvPr>
        </p:nvGraphicFramePr>
        <p:xfrm>
          <a:off x="89645" y="475130"/>
          <a:ext cx="12003740" cy="63201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00935">
                  <a:extLst>
                    <a:ext uri="{9D8B030D-6E8A-4147-A177-3AD203B41FA5}">
                      <a16:colId xmlns:a16="http://schemas.microsoft.com/office/drawing/2014/main" val="2853026874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3465621051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986397439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944093638"/>
                    </a:ext>
                  </a:extLst>
                </a:gridCol>
              </a:tblGrid>
              <a:tr h="63201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2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UnsortedType</a:t>
                      </a: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</a:t>
                      </a:r>
                      <a:r>
                        <a:rPr lang="en-US" sz="12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DeleteItem</a:t>
                      </a: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(ItemType item)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location =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listData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tempLocation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if (item ==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listData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-&gt;info)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{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tempLocation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location;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listData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listData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-&gt;next;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}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else 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{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while (!(item==(location-&gt;next)-&gt;info))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location = location-&gt;next;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tempLocation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location-&gt;next;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location-&gt;next = (location-&gt;next)-&gt;next;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}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delete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tempLocation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length--;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2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SortedType</a:t>
                      </a: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</a:t>
                      </a:r>
                      <a:r>
                        <a:rPr lang="en-US" sz="12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DeleteItem</a:t>
                      </a: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(ItemType item)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location =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listData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tempLocation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if (item ==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listData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-&gt;info)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{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tempLocation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location;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listData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listData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-&gt;next;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}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else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{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while (!(item==(location-&gt;next)-&gt;info))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location = location-&gt;next;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tempLocation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location-&gt;next;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location-&gt;next = (location-&gt;next)-&gt;next;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}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delete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tempLocation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length--;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br>
                        <a:rPr lang="en-US" sz="1200" dirty="0"/>
                      </a:b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StackType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&lt;ItemType&gt;::Pop()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if (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IsEmpty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())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throw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EmptyStack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else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{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tempPtr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tempPtr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topPtr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topPtr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topPtr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-&gt;next;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delete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tempPtr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}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br>
                        <a:rPr lang="en-US" sz="1200" dirty="0"/>
                      </a:b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3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QueType</a:t>
                      </a:r>
                      <a:r>
                        <a:rPr lang="en-US" sz="13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&lt;ItemType&gt;::Dequeue (ItemType&amp; item)</a:t>
                      </a:r>
                      <a:br>
                        <a:rPr lang="en-US" sz="1300" dirty="0"/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300" dirty="0"/>
                      </a:br>
                      <a:r>
                        <a:rPr lang="en-US" sz="1300" dirty="0"/>
                        <a:t>    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(</a:t>
                      </a:r>
                      <a:r>
                        <a:rPr lang="en-US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IsEmpty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())</a:t>
                      </a:r>
                      <a:br>
                        <a:rPr lang="en-US" sz="1300" dirty="0"/>
                      </a:br>
                      <a:r>
                        <a:rPr lang="en-US" sz="1300" dirty="0"/>
                        <a:t>         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throw </a:t>
                      </a:r>
                      <a:r>
                        <a:rPr lang="en-US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EmptyQueue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300" dirty="0"/>
                      </a:br>
                      <a:r>
                        <a:rPr lang="en-US" sz="1300" dirty="0"/>
                        <a:t>     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else</a:t>
                      </a:r>
                      <a:br>
                        <a:rPr lang="en-US" sz="1300" dirty="0"/>
                      </a:br>
                      <a:r>
                        <a:rPr lang="en-US" sz="1300" dirty="0"/>
                        <a:t>         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300" dirty="0"/>
                      </a:br>
                      <a:r>
                        <a:rPr lang="en-US" sz="1300" dirty="0"/>
                        <a:t>              </a:t>
                      </a:r>
                      <a:r>
                        <a:rPr lang="en-US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en-US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tempPtr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br>
                        <a:rPr lang="en-US" sz="1300" dirty="0"/>
                      </a:br>
                      <a:r>
                        <a:rPr lang="en-US" sz="1300" dirty="0"/>
                        <a:t>              </a:t>
                      </a:r>
                      <a:r>
                        <a:rPr lang="en-US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tempPtr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front;</a:t>
                      </a:r>
                      <a:br>
                        <a:rPr lang="en-US" sz="1300" dirty="0"/>
                      </a:br>
                      <a:r>
                        <a:rPr lang="en-US" sz="1300" dirty="0"/>
                        <a:t>              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item = front-&gt;info;</a:t>
                      </a:r>
                      <a:br>
                        <a:rPr lang="en-US" sz="1300" dirty="0"/>
                      </a:br>
                      <a:r>
                        <a:rPr lang="en-US" sz="1300" dirty="0"/>
                        <a:t>              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front = front-&gt;next;</a:t>
                      </a:r>
                      <a:br>
                        <a:rPr lang="en-US" sz="1300" dirty="0"/>
                      </a:br>
                      <a:r>
                        <a:rPr lang="en-US" sz="1300" dirty="0"/>
                        <a:t>              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(front == NULL)</a:t>
                      </a:r>
                      <a:br>
                        <a:rPr lang="en-US" sz="1300" dirty="0"/>
                      </a:br>
                      <a:r>
                        <a:rPr lang="en-US" sz="1300" dirty="0"/>
                        <a:t>                    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rear = NULL;</a:t>
                      </a:r>
                      <a:br>
                        <a:rPr lang="en-US" sz="1300" dirty="0"/>
                      </a:br>
                      <a:r>
                        <a:rPr lang="en-US" sz="1300" dirty="0"/>
                        <a:t>              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delete </a:t>
                      </a:r>
                      <a:r>
                        <a:rPr lang="en-US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tempPtr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300" dirty="0"/>
                      </a:br>
                      <a:r>
                        <a:rPr lang="en-US" sz="1300" dirty="0"/>
                        <a:t>          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br>
                        <a:rPr lang="en-US" sz="1300" dirty="0"/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501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8088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EDC3D9F8-81E5-4B1A-9EB3-CC9108853FD3}"/>
              </a:ext>
            </a:extLst>
          </p:cNvPr>
          <p:cNvGraphicFramePr>
            <a:graphicFrameLocks noGrp="1"/>
          </p:cNvGraphicFramePr>
          <p:nvPr/>
        </p:nvGraphicFramePr>
        <p:xfrm>
          <a:off x="89646" y="62754"/>
          <a:ext cx="12003740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00935">
                  <a:extLst>
                    <a:ext uri="{9D8B030D-6E8A-4147-A177-3AD203B41FA5}">
                      <a16:colId xmlns:a16="http://schemas.microsoft.com/office/drawing/2014/main" val="2169824604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2960776603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1259034793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3998799532"/>
                    </a:ext>
                  </a:extLst>
                </a:gridCol>
              </a:tblGrid>
              <a:tr h="412376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 Black" panose="020B0A04020102020204" pitchFamily="34" charset="0"/>
                        </a:rPr>
                        <a:t>Unsorted-LinkedList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Black" panose="020B0A04020102020204" pitchFamily="34" charset="0"/>
                        </a:rPr>
                        <a:t>Sorted-LinkedList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 Black" panose="020B0A04020102020204" pitchFamily="34" charset="0"/>
                        </a:rPr>
                        <a:t>Stack-LinkedList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 Black" panose="020B0A04020102020204" pitchFamily="34" charset="0"/>
                        </a:rPr>
                        <a:t>Queue-LinkedList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2492325"/>
                  </a:ext>
                </a:extLst>
              </a:tr>
            </a:tbl>
          </a:graphicData>
        </a:graphic>
      </p:graphicFrame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C0F3C664-1672-4529-A16E-3E7E3C3D83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5282158"/>
              </p:ext>
            </p:extLst>
          </p:nvPr>
        </p:nvGraphicFramePr>
        <p:xfrm>
          <a:off x="89645" y="475130"/>
          <a:ext cx="12003740" cy="63201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00935">
                  <a:extLst>
                    <a:ext uri="{9D8B030D-6E8A-4147-A177-3AD203B41FA5}">
                      <a16:colId xmlns:a16="http://schemas.microsoft.com/office/drawing/2014/main" val="2853026874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3465621051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986397439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944093638"/>
                    </a:ext>
                  </a:extLst>
                </a:gridCol>
              </a:tblGrid>
              <a:tr h="6320116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void Unsorted&lt;ItemType&gt;::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</a:rPr>
                        <a:t>GetNextItem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 (ItemType&amp; item)</a:t>
                      </a:r>
                    </a:p>
                    <a:p>
                      <a:r>
                        <a:rPr lang="en-US" sz="1400" dirty="0"/>
                        <a:t>{</a:t>
                      </a:r>
                    </a:p>
                    <a:p>
                      <a:r>
                        <a:rPr lang="en-US" sz="1400" dirty="0"/>
                        <a:t>    if (</a:t>
                      </a:r>
                      <a:r>
                        <a:rPr lang="en-US" sz="1400" dirty="0" err="1"/>
                        <a:t>currentPos</a:t>
                      </a:r>
                      <a:r>
                        <a:rPr lang="en-US" sz="1400" dirty="0"/>
                        <a:t> == </a:t>
                      </a:r>
                      <a:r>
                        <a:rPr lang="en-US" sz="1400" dirty="0" err="1"/>
                        <a:t>nullptr</a:t>
                      </a:r>
                      <a:r>
                        <a:rPr lang="en-US" sz="1400" dirty="0"/>
                        <a:t>)</a:t>
                      </a:r>
                    </a:p>
                    <a:p>
                      <a:r>
                        <a:rPr lang="en-US" sz="1400" dirty="0"/>
                        <a:t>        </a:t>
                      </a:r>
                      <a:r>
                        <a:rPr lang="en-US" sz="1400" dirty="0" err="1"/>
                        <a:t>currentPos</a:t>
                      </a:r>
                      <a:r>
                        <a:rPr lang="en-US" sz="1400" dirty="0"/>
                        <a:t> = </a:t>
                      </a:r>
                      <a:r>
                        <a:rPr lang="en-US" sz="1400" dirty="0" err="1"/>
                        <a:t>datalist</a:t>
                      </a:r>
                      <a:r>
                        <a:rPr lang="en-US" sz="1400" dirty="0"/>
                        <a:t>;</a:t>
                      </a:r>
                    </a:p>
                    <a:p>
                      <a:r>
                        <a:rPr lang="en-US" sz="1400" dirty="0"/>
                        <a:t>    else</a:t>
                      </a:r>
                    </a:p>
                    <a:p>
                      <a:r>
                        <a:rPr lang="en-US" sz="1400" dirty="0"/>
                        <a:t>        </a:t>
                      </a:r>
                      <a:r>
                        <a:rPr lang="en-US" sz="1400" dirty="0" err="1"/>
                        <a:t>currentPos</a:t>
                      </a:r>
                      <a:r>
                        <a:rPr lang="en-US" sz="1400" dirty="0"/>
                        <a:t> = </a:t>
                      </a:r>
                      <a:r>
                        <a:rPr lang="en-US" sz="1400" dirty="0" err="1"/>
                        <a:t>currentPos</a:t>
                      </a:r>
                      <a:r>
                        <a:rPr lang="en-US" sz="1400" dirty="0"/>
                        <a:t>-&gt;next;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    item = </a:t>
                      </a:r>
                      <a:r>
                        <a:rPr lang="en-US" sz="1400" dirty="0" err="1"/>
                        <a:t>currentPos</a:t>
                      </a:r>
                      <a:r>
                        <a:rPr lang="en-US" sz="1400" dirty="0"/>
                        <a:t>-&gt;info;</a:t>
                      </a:r>
                    </a:p>
                    <a:p>
                      <a:r>
                        <a:rPr lang="en-US" sz="1400" dirty="0"/>
                        <a:t>}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2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UnsortedType</a:t>
                      </a: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</a:t>
                      </a:r>
                      <a:r>
                        <a:rPr lang="en-US" sz="12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MakeEmpty</a:t>
                      </a: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tempPtr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while (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listData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!= NULL)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    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tempPtr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listData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    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listData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listData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-&gt;next;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     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delete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tempPtr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 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 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length = 0;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en-US" sz="1200" dirty="0"/>
                    </a:p>
                    <a:p>
                      <a:endParaRPr lang="en-US" sz="1400" dirty="0"/>
                    </a:p>
                    <a:p>
                      <a:r>
                        <a:rPr lang="en-US" sz="12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UnsortedType</a:t>
                      </a: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&lt;ItemType&gt;::~</a:t>
                      </a:r>
                      <a:r>
                        <a:rPr lang="en-US" sz="12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UnsortedType</a:t>
                      </a: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 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MakeEmpty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void Sorted&lt;ItemType&gt;::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</a:rPr>
                        <a:t>GetNextItem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 (ItemType&amp; item)</a:t>
                      </a:r>
                    </a:p>
                    <a:p>
                      <a:r>
                        <a:rPr lang="en-US" sz="1400" dirty="0"/>
                        <a:t>{</a:t>
                      </a:r>
                    </a:p>
                    <a:p>
                      <a:r>
                        <a:rPr lang="en-US" sz="1400" dirty="0"/>
                        <a:t>    if (</a:t>
                      </a:r>
                      <a:r>
                        <a:rPr lang="en-US" sz="1400" dirty="0" err="1"/>
                        <a:t>currentPos</a:t>
                      </a:r>
                      <a:r>
                        <a:rPr lang="en-US" sz="1400" dirty="0"/>
                        <a:t> == </a:t>
                      </a:r>
                      <a:r>
                        <a:rPr lang="en-US" sz="1400" dirty="0" err="1"/>
                        <a:t>nullptr</a:t>
                      </a:r>
                      <a:r>
                        <a:rPr lang="en-US" sz="1400" dirty="0"/>
                        <a:t>)</a:t>
                      </a:r>
                    </a:p>
                    <a:p>
                      <a:r>
                        <a:rPr lang="en-US" sz="1400" dirty="0"/>
                        <a:t>        </a:t>
                      </a:r>
                      <a:r>
                        <a:rPr lang="en-US" sz="1400" dirty="0" err="1"/>
                        <a:t>currentPos</a:t>
                      </a:r>
                      <a:r>
                        <a:rPr lang="en-US" sz="1400" dirty="0"/>
                        <a:t> = </a:t>
                      </a:r>
                      <a:r>
                        <a:rPr lang="en-US" sz="1400" dirty="0" err="1"/>
                        <a:t>datalist</a:t>
                      </a:r>
                      <a:r>
                        <a:rPr lang="en-US" sz="1400" dirty="0"/>
                        <a:t>;</a:t>
                      </a:r>
                    </a:p>
                    <a:p>
                      <a:r>
                        <a:rPr lang="en-US" sz="1400" dirty="0"/>
                        <a:t>    else</a:t>
                      </a:r>
                    </a:p>
                    <a:p>
                      <a:r>
                        <a:rPr lang="en-US" sz="1400" dirty="0"/>
                        <a:t>        </a:t>
                      </a:r>
                      <a:r>
                        <a:rPr lang="en-US" sz="1400" dirty="0" err="1"/>
                        <a:t>currentPos</a:t>
                      </a:r>
                      <a:r>
                        <a:rPr lang="en-US" sz="1400" dirty="0"/>
                        <a:t> = </a:t>
                      </a:r>
                      <a:r>
                        <a:rPr lang="en-US" sz="1400" dirty="0" err="1"/>
                        <a:t>currentPos</a:t>
                      </a:r>
                      <a:r>
                        <a:rPr lang="en-US" sz="1400" dirty="0"/>
                        <a:t>-&gt;next;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    item = </a:t>
                      </a:r>
                      <a:r>
                        <a:rPr lang="en-US" sz="1400" dirty="0" err="1"/>
                        <a:t>currentPos</a:t>
                      </a:r>
                      <a:r>
                        <a:rPr lang="en-US" sz="1400" dirty="0"/>
                        <a:t>-&gt;info;</a:t>
                      </a:r>
                    </a:p>
                    <a:p>
                      <a:r>
                        <a:rPr lang="en-US" sz="1400" dirty="0"/>
                        <a:t>}</a:t>
                      </a:r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2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SortedType</a:t>
                      </a: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</a:t>
                      </a:r>
                      <a:r>
                        <a:rPr lang="en-US" sz="12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MakeEmpty</a:t>
                      </a: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tempPtr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while (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listData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!= NULL)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     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tempPtr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listData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     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listData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listData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-&gt;next;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      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delete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tempPtr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 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 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 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length = 0;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2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SortedType</a:t>
                      </a: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&lt;ItemType&gt;::~</a:t>
                      </a:r>
                      <a:r>
                        <a:rPr lang="en-US" sz="12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SortedType</a:t>
                      </a: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MakeEmpty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br>
                        <a:rPr lang="en-US" sz="1200" dirty="0"/>
                      </a:b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ItemType </a:t>
                      </a:r>
                      <a:r>
                        <a:rPr lang="en-US" sz="12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StackType</a:t>
                      </a: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&lt;ItemType&gt;::Top()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if (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IsEmpty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())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throw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EmptyStack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else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return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topPtr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-&gt;info;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endParaRPr lang="en-US" sz="1200" dirty="0"/>
                    </a:p>
                    <a:p>
                      <a:endParaRPr lang="en-US" sz="1200" dirty="0"/>
                    </a:p>
                    <a:p>
                      <a:endParaRPr lang="en-US" sz="1200" dirty="0"/>
                    </a:p>
                    <a:p>
                      <a:endParaRPr lang="en-US" sz="1200" dirty="0"/>
                    </a:p>
                    <a:p>
                      <a:endParaRPr lang="en-US" sz="1200" dirty="0"/>
                    </a:p>
                    <a:p>
                      <a:endParaRPr lang="en-US" sz="1200" dirty="0"/>
                    </a:p>
                    <a:p>
                      <a:endParaRPr lang="en-US" sz="1200" dirty="0"/>
                    </a:p>
                    <a:p>
                      <a:r>
                        <a:rPr lang="en-US" sz="12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StackType</a:t>
                      </a: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&lt;ItemType&gt;::~</a:t>
                      </a:r>
                      <a:r>
                        <a:rPr lang="en-US" sz="12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StackType</a:t>
                      </a: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    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tempPtr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     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while (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topPtr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!= NULL)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     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           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tempPtr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topPtr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           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topPtr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topPtr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-&gt;next;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            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delete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tempPtr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     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2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QueType</a:t>
                      </a: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</a:t>
                      </a:r>
                      <a:r>
                        <a:rPr lang="en-US" sz="12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MakeEmpty</a:t>
                      </a: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tempPtr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 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while (front != NULL)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 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        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tempPtr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front;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         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front = front-&gt;next;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         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delete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tempPtr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  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  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rear = NULL;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</a:t>
                      </a:r>
                      <a:br>
                        <a:rPr lang="en-US" sz="1200" dirty="0"/>
                      </a:br>
                      <a:r>
                        <a:rPr lang="en-US" sz="12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QueType</a:t>
                      </a: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&lt;ItemType&gt;::~</a:t>
                      </a:r>
                      <a:r>
                        <a:rPr lang="en-US" sz="12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QueType</a:t>
                      </a: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    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MakeEmpty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501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3297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EDC3D9F8-81E5-4B1A-9EB3-CC9108853FD3}"/>
              </a:ext>
            </a:extLst>
          </p:cNvPr>
          <p:cNvGraphicFramePr>
            <a:graphicFrameLocks noGrp="1"/>
          </p:cNvGraphicFramePr>
          <p:nvPr/>
        </p:nvGraphicFramePr>
        <p:xfrm>
          <a:off x="89646" y="62754"/>
          <a:ext cx="12003740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00935">
                  <a:extLst>
                    <a:ext uri="{9D8B030D-6E8A-4147-A177-3AD203B41FA5}">
                      <a16:colId xmlns:a16="http://schemas.microsoft.com/office/drawing/2014/main" val="2169824604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2960776603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1259034793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3998799532"/>
                    </a:ext>
                  </a:extLst>
                </a:gridCol>
              </a:tblGrid>
              <a:tr h="412376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 Black" panose="020B0A04020102020204" pitchFamily="34" charset="0"/>
                        </a:rPr>
                        <a:t>Unsorted-LinkedList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Black" panose="020B0A04020102020204" pitchFamily="34" charset="0"/>
                        </a:rPr>
                        <a:t>Sorted-LinkedList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 Black" panose="020B0A04020102020204" pitchFamily="34" charset="0"/>
                        </a:rPr>
                        <a:t>Stack-LinkedList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 Black" panose="020B0A04020102020204" pitchFamily="34" charset="0"/>
                        </a:rPr>
                        <a:t>Queue-LinkedList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2492325"/>
                  </a:ext>
                </a:extLst>
              </a:tr>
            </a:tbl>
          </a:graphicData>
        </a:graphic>
      </p:graphicFrame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C0F3C664-1672-4529-A16E-3E7E3C3D83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497180"/>
              </p:ext>
            </p:extLst>
          </p:nvPr>
        </p:nvGraphicFramePr>
        <p:xfrm>
          <a:off x="89645" y="475130"/>
          <a:ext cx="12003740" cy="63201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00935">
                  <a:extLst>
                    <a:ext uri="{9D8B030D-6E8A-4147-A177-3AD203B41FA5}">
                      <a16:colId xmlns:a16="http://schemas.microsoft.com/office/drawing/2014/main" val="2853026874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3465621051"/>
                    </a:ext>
                  </a:extLst>
                </a:gridCol>
                <a:gridCol w="3016626">
                  <a:extLst>
                    <a:ext uri="{9D8B030D-6E8A-4147-A177-3AD203B41FA5}">
                      <a16:colId xmlns:a16="http://schemas.microsoft.com/office/drawing/2014/main" val="986397439"/>
                    </a:ext>
                  </a:extLst>
                </a:gridCol>
                <a:gridCol w="2985244">
                  <a:extLst>
                    <a:ext uri="{9D8B030D-6E8A-4147-A177-3AD203B41FA5}">
                      <a16:colId xmlns:a16="http://schemas.microsoft.com/office/drawing/2014/main" val="944093638"/>
                    </a:ext>
                  </a:extLst>
                </a:gridCol>
              </a:tblGrid>
              <a:tr h="6320116">
                <a:tc>
                  <a:txBody>
                    <a:bodyPr/>
                    <a:lstStyle/>
                    <a:p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2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UnsortedType</a:t>
                      </a:r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</a:t>
                      </a:r>
                      <a:r>
                        <a:rPr lang="en-US" sz="12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RetrieveItem</a:t>
                      </a:r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(ItemType&amp; item, bool&amp; found)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location =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listData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bool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moreToSearch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(location != NULL);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found = false;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while (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moreToSearch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&amp;&amp; !found)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{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If (item == location-&gt;info)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{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found = true;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}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else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{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location = location-&gt;next;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moreToSearch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(location != NULL);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}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}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endParaRPr lang="en-US" sz="1200" dirty="0"/>
                    </a:p>
                    <a:p>
                      <a:endParaRPr lang="en-US" sz="1200" dirty="0"/>
                    </a:p>
                    <a:p>
                      <a:r>
                        <a:rPr lang="en-US" sz="1400" b="1" dirty="0"/>
                        <a:t>void Unsorted&lt;ItemType&gt;::</a:t>
                      </a:r>
                      <a:r>
                        <a:rPr lang="en-US" sz="1400" b="1" dirty="0" err="1"/>
                        <a:t>ResetList</a:t>
                      </a:r>
                      <a:r>
                        <a:rPr lang="en-US" sz="1400" b="1" dirty="0"/>
                        <a:t>()</a:t>
                      </a:r>
                    </a:p>
                    <a:p>
                      <a:r>
                        <a:rPr lang="en-US" sz="1400" dirty="0"/>
                        <a:t>{</a:t>
                      </a:r>
                    </a:p>
                    <a:p>
                      <a:r>
                        <a:rPr lang="en-US" sz="1400" dirty="0"/>
                        <a:t>    </a:t>
                      </a:r>
                      <a:r>
                        <a:rPr lang="en-US" sz="1400" dirty="0" err="1"/>
                        <a:t>currentPos</a:t>
                      </a:r>
                      <a:r>
                        <a:rPr lang="en-US" sz="1400" dirty="0"/>
                        <a:t> = </a:t>
                      </a:r>
                      <a:r>
                        <a:rPr lang="en-US" sz="1400" dirty="0" err="1"/>
                        <a:t>nullptr</a:t>
                      </a:r>
                      <a:r>
                        <a:rPr lang="en-US" sz="1400" dirty="0"/>
                        <a:t>;</a:t>
                      </a:r>
                    </a:p>
                    <a:p>
                      <a:r>
                        <a:rPr lang="en-US" sz="1400" dirty="0"/>
                        <a:t>}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</a:t>
                      </a:r>
                      <a:r>
                        <a:rPr lang="en-US" sz="14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UnsortedType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</a:t>
                      </a:r>
                      <a:r>
                        <a:rPr lang="en-US" sz="14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LengthIs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  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 length;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3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SortedType</a:t>
                      </a:r>
                      <a:r>
                        <a:rPr lang="en-US" sz="13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</a:t>
                      </a:r>
                      <a:r>
                        <a:rPr lang="en-US" sz="13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RetrieveItem</a:t>
                      </a:r>
                      <a:r>
                        <a:rPr lang="en-US" sz="13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(ItemType&amp; item, bool&amp; found)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NodeType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location = </a:t>
                      </a:r>
                      <a:r>
                        <a:rPr lang="en-US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listData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bool </a:t>
                      </a:r>
                      <a:r>
                        <a:rPr lang="en-US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moreToSearch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(location != NULL);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found = false;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while (</a:t>
                      </a:r>
                      <a:r>
                        <a:rPr lang="en-US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moreToSearch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&amp;&amp; !found)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{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if (item == location-&gt;info)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found = true;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else if (item &lt; location-&gt;info)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{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location = location-&gt;next;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</a:t>
                      </a:r>
                      <a:r>
                        <a:rPr lang="en-US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moreToSearch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(location != NULL);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}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else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</a:t>
                      </a:r>
                      <a:r>
                        <a:rPr lang="en-US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moreToSearch</a:t>
                      </a: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false;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}</a:t>
                      </a:r>
                      <a:b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br>
                        <a:rPr lang="en-US" sz="1200" dirty="0"/>
                      </a:br>
                      <a:r>
                        <a:rPr lang="en-US" sz="1400" b="1" dirty="0"/>
                        <a:t>void Sorted&lt;ItemType&gt;::</a:t>
                      </a:r>
                      <a:r>
                        <a:rPr lang="en-US" sz="1400" b="1" dirty="0" err="1"/>
                        <a:t>ResetList</a:t>
                      </a:r>
                      <a:r>
                        <a:rPr lang="en-US" sz="1400" b="1" dirty="0"/>
                        <a:t>()</a:t>
                      </a:r>
                    </a:p>
                    <a:p>
                      <a:r>
                        <a:rPr lang="en-US" sz="1400" dirty="0"/>
                        <a:t>{</a:t>
                      </a:r>
                    </a:p>
                    <a:p>
                      <a:r>
                        <a:rPr lang="en-US" sz="1400" dirty="0"/>
                        <a:t>    </a:t>
                      </a:r>
                      <a:r>
                        <a:rPr lang="en-US" sz="1400" dirty="0" err="1"/>
                        <a:t>currentPos</a:t>
                      </a:r>
                      <a:r>
                        <a:rPr lang="en-US" sz="1400" dirty="0"/>
                        <a:t> = </a:t>
                      </a:r>
                      <a:r>
                        <a:rPr lang="en-US" sz="1400" dirty="0" err="1"/>
                        <a:t>nullptr</a:t>
                      </a:r>
                      <a:r>
                        <a:rPr lang="en-US" sz="1400" dirty="0"/>
                        <a:t>;</a:t>
                      </a:r>
                    </a:p>
                    <a:p>
                      <a:r>
                        <a:rPr lang="en-US" sz="1400" dirty="0"/>
                        <a:t>}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</a:t>
                      </a:r>
                      <a:r>
                        <a:rPr lang="en-US" sz="14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SortedType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</a:t>
                      </a:r>
                      <a:r>
                        <a:rPr lang="en-US" sz="14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LengthIs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  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 length;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br>
                        <a:rPr lang="en-US" sz="1200" dirty="0"/>
                      </a:br>
                      <a:endParaRPr lang="en-US" sz="1200" dirty="0"/>
                    </a:p>
                    <a:p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</a:t>
                      </a:r>
                      <a:r>
                        <a:rPr lang="en-US" sz="14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StackType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</a:t>
                      </a:r>
                      <a:r>
                        <a:rPr lang="en-US" sz="14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IsEmpty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   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 (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topPtr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== NULL);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4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</a:t>
                      </a:r>
                      <a:r>
                        <a:rPr lang="en-US" sz="14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QueType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</a:t>
                      </a:r>
                      <a:r>
                        <a:rPr lang="en-US" sz="14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IsEmpty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   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 (front == NULL);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501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6503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2232</Words>
  <Application>Microsoft Office PowerPoint</Application>
  <PresentationFormat>Widescreen</PresentationFormat>
  <Paragraphs>143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 apon</dc:creator>
  <cp:lastModifiedBy>ar apon</cp:lastModifiedBy>
  <cp:revision>27</cp:revision>
  <dcterms:created xsi:type="dcterms:W3CDTF">2025-10-24T15:11:57Z</dcterms:created>
  <dcterms:modified xsi:type="dcterms:W3CDTF">2025-10-24T16:52:47Z</dcterms:modified>
</cp:coreProperties>
</file>